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Relationship Id="rId4" Type="http://schemas.openxmlformats.org/officeDocument/2006/relationships/image" Target="../media/image3.png"/><Relationship Id="rId5" Type="http://schemas.openxmlformats.org/officeDocument/2006/relationships/image" Target="../media/image4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848" y="1703040"/>
            <a:ext cx="3276302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0"/>
            <a:ext cx="11277600" cy="594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90384" y="2226915"/>
            <a:ext cx="7411082" cy="61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Poppins"/>
              </a:rPr>
              <a:t>Sales Analytics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875" y="3030735"/>
            <a:ext cx="809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An Executive Implementation Blueprint &amp; Technical Roadmap from Data ETL to Predictive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8287" y="4059435"/>
            <a:ext cx="2895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Inter"/>
              </a:rPr>
              <a:t>9,994 Orders</a:t>
            </a:r>
            <a:r>
              <a:rPr b="0" sz="1125" i="0" u="none">
                <a:solidFill>
                  <a:srgbClr val="CBD5E1"/>
                </a:solidFill>
                <a:latin typeface="Inter"/>
              </a:rPr>
              <a:t> </a:t>
            </a:r>
            <a:r>
              <a:rPr b="0" sz="1125" i="0" u="none">
                <a:solidFill>
                  <a:srgbClr val="CBD5E1"/>
                </a:solidFill>
                <a:latin typeface="Inter"/>
              </a:rPr>
              <a:t>$2.30M Revenue</a:t>
            </a:r>
            <a:r>
              <a:rPr b="0" sz="1125" i="0" u="none">
                <a:solidFill>
                  <a:srgbClr val="CBD5E1"/>
                </a:solidFill>
                <a:latin typeface="Inter"/>
              </a:rPr>
              <a:t> </a:t>
            </a:r>
            <a:r>
              <a:rPr b="0" sz="1125" i="0" u="none">
                <a:solidFill>
                  <a:srgbClr val="CBD5E1"/>
                </a:solidFill>
                <a:latin typeface="Inter"/>
              </a:rPr>
              <a:t>$286.4K Profit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112" y="4078485"/>
            <a:ext cx="12382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8287" y="4078485"/>
            <a:ext cx="14287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4212" y="4078485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70895"/>
            <a:ext cx="5448300" cy="933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572071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1E293B"/>
                </a:solidFill>
                <a:latin typeface="Poppins SemiBold"/>
              </a:rPr>
              <a:t>Executive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5375"/>
            <a:ext cx="54483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739479"/>
            <a:ext cx="572071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oppins SemiBold"/>
              </a:rPr>
              <a:t>Strategic Scope &amp;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49054"/>
            <a:ext cx="54483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This project synthesizes 9,994 transactional records across 49 U.S. states to evaluate company-wide revenue drivers, regional growth opportunities, and profit vulnerabilities.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47887"/>
            <a:ext cx="2647950" cy="3448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750" y="2147887"/>
            <a:ext cx="2647950" cy="3448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147887"/>
            <a:ext cx="2647950" cy="3448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6850" y="2147887"/>
            <a:ext cx="2647950" cy="3448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2424112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3425" y="3109912"/>
            <a:ext cx="22002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oppins SemiBold"/>
              </a:rPr>
              <a:t>Step 1: Data ETL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3519487"/>
            <a:ext cx="20955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Ingest Excel source dataset into Power Query. Enforce proper data types, clean missing postal codes, and establish DAX Date Table schema.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975" y="2424112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9975" y="3109912"/>
            <a:ext cx="220027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oppins SemiBold"/>
              </a:rPr>
              <a:t>Step 2: DAX &amp; Measures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9975" y="3833812"/>
            <a:ext cx="20955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Develop centralized measures library including Total Sales ($2.30M), Total Profit ($286.4K), Avg Discount (15.5%), Margin %, and YoY logic.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2424112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86525" y="3109912"/>
            <a:ext cx="220027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oppins SemiBold"/>
              </a:rPr>
              <a:t>Step 3: Visual Dashboards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833812"/>
            <a:ext cx="20955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Construct 3 dedicated interactive visual layouts for Exploratory Data Analysis (EDA), Performance Comparisons, and Predictive Trends.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3075" y="2424112"/>
            <a:ext cx="495300" cy="495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63075" y="3109912"/>
            <a:ext cx="220027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oppins SemiBold"/>
              </a:rPr>
              <a:t>Step 4: Insights &amp;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63075" y="3833812"/>
            <a:ext cx="20955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Deploy machine learning models for customer churn forecasting (&gt;180 days risk), RFM K-Means clustering, and executive reporting.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775" y="2557462"/>
            <a:ext cx="228600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1900" y="2557462"/>
            <a:ext cx="17145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05587" y="2557462"/>
            <a:ext cx="257175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96425" y="2557462"/>
            <a:ext cx="22860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457200"/>
            <a:ext cx="117348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1E293B"/>
                </a:solidFill>
                <a:latin typeface="Poppins SemiBold"/>
              </a:rPr>
              <a:t>End-to-End Analytics Roadmap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0953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50268"/>
            <a:ext cx="11277600" cy="344328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66725" y="2159793"/>
          <a:ext cx="11258549" cy="3424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99357"/>
                <a:gridCol w="5486995"/>
                <a:gridCol w="3772197"/>
              </a:tblGrid>
              <a:tr h="684847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User Persona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Core Objectives &amp; Requirements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Primary Dashboard Visuals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8484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Inter"/>
                        </a:rPr>
                        <a:t>Executive Leadership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Macro-level performance, top-line profit tracking, and strategic margin risk management.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KPI Summary Cards, YoY Line Charts, Executive Highlights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8484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Inter"/>
                        </a:rPr>
                        <a:t>Regional Sales Managers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Territory benchmarking, state revenue share, and local category opportunities.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Regional Donut Share, State Maps, Category Bar Charts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8484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Inter"/>
                        </a:rPr>
                        <a:t>Supply Chain &amp; Logistics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Fulfillment efficiency, ship mode distribution, and Q4 stocking preparations.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Ship Mode Treemap, Delivery Timelines, Volume Forecasts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84849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Inter"/>
                        </a:rPr>
                        <a:t>Pricing &amp; Margin Analysts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Discount sensitivity, profit leakage isolation, and discount rule enforcement.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Scatter Sensitivity Plot, AI Key Influencers Visual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66725" y="2636043"/>
            <a:ext cx="19993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66082" y="2636043"/>
            <a:ext cx="54869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3077" y="2636043"/>
            <a:ext cx="37721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725" y="3369468"/>
            <a:ext cx="19993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6082" y="3369468"/>
            <a:ext cx="54869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3077" y="3369468"/>
            <a:ext cx="37721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725" y="4102893"/>
            <a:ext cx="19993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6082" y="4102893"/>
            <a:ext cx="54869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3077" y="4102893"/>
            <a:ext cx="37721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725" y="4836318"/>
            <a:ext cx="19993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6082" y="4836318"/>
            <a:ext cx="54869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3077" y="4836318"/>
            <a:ext cx="37721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725" y="5569743"/>
            <a:ext cx="19993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6082" y="5569743"/>
            <a:ext cx="54869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3077" y="5569743"/>
            <a:ext cx="37721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"/>
            <a:ext cx="117348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1E293B"/>
                </a:solidFill>
                <a:latin typeface="Poppins SemiBold"/>
              </a:rPr>
              <a:t>Stakeholder Requirement Analysis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0953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38450"/>
            <a:ext cx="5486400" cy="2066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838450"/>
            <a:ext cx="5486400" cy="2066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3152775"/>
            <a:ext cx="510063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oppins SemiBold"/>
              </a:rPr>
              <a:t>Star Schema 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562350"/>
            <a:ext cx="48577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Data was cleansed via Power Query by casting currency fields (`Sales`, `Profit`) to decimal, applying `Text.Trim` to categorical values, and creating a continuous 1-to-Many `Calendar` dimension table for DAX time-intelligence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3152775"/>
            <a:ext cx="510063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oppins SemiBold"/>
              </a:rPr>
              <a:t>Centralized DAX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562350"/>
            <a:ext cx="48577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Core formulas include `Total Sales = SUM(Orders[Sales])`, `Total Profit = SUM(Orders[Profit])`, `Margin % = DIVIDE([Total Profit], [Total Sales])`, and `Last Year Sales = CALCULATE([Total Sales], SAMEPERIODLASTYEAR('Calendar'[Date]))`.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"/>
            <a:ext cx="117348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1E293B"/>
                </a:solidFill>
                <a:latin typeface="Poppins SemiBold"/>
              </a:rPr>
              <a:t>Data Architecture &amp; DAX Measures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953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98427"/>
            <a:ext cx="2676525" cy="12705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225" y="2898427"/>
            <a:ext cx="2676525" cy="12705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898427"/>
            <a:ext cx="2676525" cy="12705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8275" y="2898427"/>
            <a:ext cx="2676525" cy="127054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343025"/>
            <a:ext cx="11277600" cy="50577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7225" y="3174652"/>
            <a:ext cx="2276475" cy="460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29"/>
              </a:lnSpc>
            </a:pPr>
            <a:r>
              <a:rPr b="1" sz="3300" i="0" u="none">
                <a:solidFill>
                  <a:srgbClr val="2563EB"/>
                </a:solidFill>
                <a:latin typeface="Poppins"/>
              </a:rPr>
              <a:t>9,994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" y="3711773"/>
            <a:ext cx="22764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 SemiBold"/>
              </a:rPr>
              <a:t>TOTAL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4250" y="3174652"/>
            <a:ext cx="2276475" cy="460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29"/>
              </a:lnSpc>
            </a:pPr>
            <a:r>
              <a:rPr b="1" sz="3300" i="0" u="none">
                <a:solidFill>
                  <a:srgbClr val="2563EB"/>
                </a:solidFill>
                <a:latin typeface="Poppins"/>
              </a:rPr>
              <a:t>$2.30M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4250" y="3711773"/>
            <a:ext cx="22764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 SemiBold"/>
              </a:rPr>
              <a:t>GROSS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275" y="3174652"/>
            <a:ext cx="2276475" cy="460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29"/>
              </a:lnSpc>
            </a:pPr>
            <a:r>
              <a:rPr b="1" sz="3300" i="0" u="none">
                <a:solidFill>
                  <a:srgbClr val="2563EB"/>
                </a:solidFill>
                <a:latin typeface="Poppins"/>
              </a:rPr>
              <a:t>$286.4K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275" y="3711773"/>
            <a:ext cx="22764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 SemiBold"/>
              </a:rPr>
              <a:t>NET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8300" y="3174652"/>
            <a:ext cx="2276475" cy="460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29"/>
              </a:lnSpc>
            </a:pPr>
            <a:r>
              <a:rPr b="1" sz="3300" i="0" u="none">
                <a:solidFill>
                  <a:srgbClr val="2563EB"/>
                </a:solidFill>
                <a:latin typeface="Poppins"/>
              </a:rPr>
              <a:t>15.5%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8300" y="3711773"/>
            <a:ext cx="22764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 SemiBold"/>
              </a:rPr>
              <a:t>AVG DISCOUNT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"/>
            <a:ext cx="117348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1E293B"/>
                </a:solidFill>
                <a:latin typeface="Poppins SemiBold"/>
              </a:rPr>
              <a:t>Executive Key Performance Metrics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0953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172075"/>
            <a:ext cx="11277600" cy="409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43025"/>
            <a:ext cx="11277600" cy="5057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17348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1E293B"/>
                </a:solidFill>
                <a:latin typeface="Poppins SemiBold"/>
              </a:rPr>
              <a:t>Regional Revenue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53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48162"/>
            <a:ext cx="11277600" cy="590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43025"/>
            <a:ext cx="11277600" cy="5057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17348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1E293B"/>
                </a:solidFill>
                <a:latin typeface="Poppins SemiBold"/>
              </a:rPr>
              <a:t>Category Revenue &amp; Profit Disparity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53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100637"/>
            <a:ext cx="11277600" cy="590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43025"/>
            <a:ext cx="11277600" cy="5057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17348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1E293B"/>
                </a:solidFill>
                <a:latin typeface="Poppins SemiBold"/>
              </a:rPr>
              <a:t>Quarterly Revenue Trends &amp; Seasonality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53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71675"/>
            <a:ext cx="3606849" cy="3800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649" y="1971675"/>
            <a:ext cx="3606849" cy="3800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971675"/>
            <a:ext cx="3606849" cy="38004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125" y="4171950"/>
            <a:ext cx="344714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oppins SemiBold"/>
              </a:rPr>
              <a:t>1. Churn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4581525"/>
            <a:ext cx="32829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Logistic Regression model analyzing purchase recency and frequency to flag high-risk customers before inactivity exceeds 180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4574" y="4171950"/>
            <a:ext cx="344714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oppins SemiBold"/>
              </a:rPr>
              <a:t>2. RFM Segmentation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4574" y="4581525"/>
            <a:ext cx="32829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K-Means Clustering on Recency, Frequency, and Monetary scores dividing accounts into Champions, Loyal, and At-Risk groups.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0024" y="4171950"/>
            <a:ext cx="344714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oppins SemiBold"/>
              </a:rPr>
              <a:t>3. Anomaly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0024" y="4581525"/>
            <a:ext cx="32829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Power BI AI Key Influencers pinpointing sudden profit drop root causes and isolating outlier discount spikes across states.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2133600"/>
            <a:ext cx="3282999" cy="1905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574" y="2133600"/>
            <a:ext cx="3282999" cy="1905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0024" y="2133600"/>
            <a:ext cx="3282999" cy="1905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457200"/>
            <a:ext cx="117348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1E293B"/>
                </a:solidFill>
                <a:latin typeface="Poppins SemiBold"/>
              </a:rPr>
              <a:t>Advanced Predictive Machine Learning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0953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100" y="2595562"/>
            <a:ext cx="109347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Optimize Discount Guardrails: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Eliminate discounts &gt;20% on Furniture (Tables &amp; Bookcases) to immediately stop net profit erosion and recover $20K+ in lost margins.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3233737"/>
            <a:ext cx="109347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Q4 Inventory Pre-Stocking: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Align supplier logistics schedules by mid-August to prepare warehouse inventories for the recurring 35% seasonal demand surge in Q4.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871912"/>
            <a:ext cx="109347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Focus on High-Margin Categories: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Prioritize bundled promotional campaigns around Technology items (Copiers, Phones) to maximize profit dollars per order sold.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4510087"/>
            <a:ext cx="109347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Territory Reallocation: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Shift marketing capital from profit-challenged Central regions toward top-performing West (31.6% revenue) and East (29.5% revenue) markets.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09850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48025"/>
            <a:ext cx="23812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86200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524375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57200"/>
            <a:ext cx="117348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1E293B"/>
                </a:solidFill>
                <a:latin typeface="Poppins SemiBold"/>
              </a:rPr>
              <a:t>Actionable Business Strategies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0953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087" y="3590925"/>
            <a:ext cx="3933825" cy="438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0"/>
            <a:ext cx="11277600" cy="594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20615" y="1914525"/>
            <a:ext cx="6150768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Poppins"/>
              </a:rPr>
              <a:t>Project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971800"/>
            <a:ext cx="7620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Interactive Power BI Workbook, Executive Word Report &amp; Slide Deck finalized.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412" y="3733800"/>
            <a:ext cx="1143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52612" y="2333625"/>
            <a:ext cx="848677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52612" y="3105150"/>
            <a:ext cx="848677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52612" y="3876675"/>
            <a:ext cx="848677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2612" y="3095625"/>
            <a:ext cx="84867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52612" y="3095625"/>
            <a:ext cx="84867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52612" y="3867150"/>
            <a:ext cx="84867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52612" y="3867150"/>
            <a:ext cx="84867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52612" y="4638675"/>
            <a:ext cx="84867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52612" y="4638675"/>
            <a:ext cx="84867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612" y="2476500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47987" y="2483643"/>
            <a:ext cx="73914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https://corporater.com/wp-content/uploads/2021/07/kpis-dashboards-and-analytics-software-1o.png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7987" y="2717006"/>
            <a:ext cx="7391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corporater.com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2612" y="3248025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47987" y="3255168"/>
            <a:ext cx="73914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https://blog.coupler.io/app/uploads/2024/06/5-telco-customer-churn.png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7987" y="3488531"/>
            <a:ext cx="7391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blog.coupler.io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2612" y="401955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947987" y="4026693"/>
            <a:ext cx="73914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https://miro.medium.com/v2/resize:fit:1332/0*721Y6139tgQUtzxY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7987" y="4260056"/>
            <a:ext cx="7391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medium.com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2612" y="4791075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947987" y="4798218"/>
            <a:ext cx="73914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https://learn.microsoft.com/en-us/power-bi/visuals/media/power-bi-visualization-influencers/power-bi-ki-numbers-new.png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7987" y="5031581"/>
            <a:ext cx="7391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learn.microsoft.com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"/>
            <a:ext cx="117348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1E293B"/>
                </a:solidFill>
                <a:latin typeface="Poppins SemiBold"/>
              </a:rPr>
              <a:t>Image 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095375"/>
            <a:ext cx="11277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